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91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66160"/>
            <a:ext cx="4114800" cy="54864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7472" y="411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MALIGATHANNA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768096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Archaeological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 Portal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18288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Digital Portal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Content Management System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2633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2999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Content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2633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2999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Sites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871216" y="2633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871216" y="2999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3749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L.S. Computer Technologh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" y="4224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Lakindu Jayathilaka  ·  Lead Developer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474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8521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pages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living platform.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434840" y="1536192"/>
            <a:ext cx="2066544" cy="1664208"/>
          </a:xfrm>
          <a:prstGeom prst="roundRect">
            <a:avLst>
              <a:gd name="adj" fmla="val 3846"/>
            </a:avLst>
          </a:prstGeom>
          <a:solidFill>
            <a:srgbClr val="FDF5F2"/>
          </a:solidFill>
          <a:ln w="10160">
            <a:solidFill>
              <a:srgbClr val="D488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159105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18653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 HTML / CSS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26771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Developer edits code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update content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6700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multi-site support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1536192"/>
            <a:ext cx="2066544" cy="1664208"/>
          </a:xfrm>
          <a:prstGeom prst="roundRect">
            <a:avLst>
              <a:gd name="adj" fmla="val 3846"/>
            </a:avLst>
          </a:prstGeom>
          <a:solidFill>
            <a:srgbClr val="EAF5F2"/>
          </a:solidFill>
          <a:ln w="10160">
            <a:solidFill>
              <a:srgbClr val="1B7A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48856" y="159105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18653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CMS + Database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226771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Admins update content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coding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26700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20+ sites, one platform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34840" y="3328416"/>
            <a:ext cx="4352544" cy="1517904"/>
          </a:xfrm>
          <a:prstGeom prst="roundRect">
            <a:avLst>
              <a:gd name="adj" fmla="val 4217"/>
            </a:avLst>
          </a:prstGeom>
          <a:solidFill>
            <a:srgbClr val="FDF0E8"/>
          </a:solidFill>
          <a:ln w="10160">
            <a:solidFill>
              <a:srgbClr val="B562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36008" y="3419856"/>
            <a:ext cx="3950208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"Build once.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continuously.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for the future."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modular, and built to grow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987552"/>
            <a:ext cx="4151376" cy="603504"/>
          </a:xfrm>
          <a:prstGeom prst="roundRect">
            <a:avLst>
              <a:gd name="adj" fmla="val 10606"/>
            </a:avLst>
          </a:prstGeom>
          <a:solidFill>
            <a:srgbClr val="EAF0F8"/>
          </a:solidFill>
          <a:ln w="10160">
            <a:solidFill>
              <a:srgbClr val="3D64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06424"/>
            <a:ext cx="365760" cy="365760"/>
          </a:xfrm>
          <a:prstGeom prst="ellipse">
            <a:avLst/>
          </a:prstGeom>
          <a:solidFill>
            <a:srgbClr val="D4E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" y="1106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060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Visitor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298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Mobile · PWA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95144" y="1609344"/>
            <a:ext cx="256032" cy="256032"/>
          </a:xfrm>
          <a:prstGeom prst="ellipse">
            <a:avLst/>
          </a:prstGeom>
          <a:solidFill>
            <a:srgbClr val="FDF0E8"/>
          </a:solidFill>
          <a:ln w="7620">
            <a:solidFill>
              <a:srgbClr val="D488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95144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415137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160">
            <a:solidFill>
              <a:srgbClr val="D4CC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965960"/>
            <a:ext cx="365760" cy="365760"/>
          </a:xfrm>
          <a:prstGeom prst="ellipse">
            <a:avLst/>
          </a:prstGeom>
          <a:solidFill>
            <a:srgbClr val="EDEA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2157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ES6+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95144" y="2468880"/>
            <a:ext cx="256032" cy="256032"/>
          </a:xfrm>
          <a:prstGeom prst="ellipse">
            <a:avLst/>
          </a:prstGeom>
          <a:solidFill>
            <a:srgbClr val="FDF0E8"/>
          </a:solidFill>
          <a:ln w="7620">
            <a:solidFill>
              <a:srgbClr val="D488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95144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706624"/>
            <a:ext cx="415137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160">
            <a:solidFill>
              <a:srgbClr val="D4CC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825496"/>
            <a:ext cx="365760" cy="365760"/>
          </a:xfrm>
          <a:prstGeom prst="ellipse">
            <a:avLst/>
          </a:prstGeom>
          <a:solidFill>
            <a:srgbClr val="EDEA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3017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8.2+  MVC-Inspired Architecture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95144" y="3328416"/>
            <a:ext cx="256032" cy="256032"/>
          </a:xfrm>
          <a:prstGeom prst="ellipse">
            <a:avLst/>
          </a:prstGeom>
          <a:solidFill>
            <a:srgbClr val="FDF0E8"/>
          </a:solidFill>
          <a:ln w="7620">
            <a:solidFill>
              <a:srgbClr val="D488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95144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566160"/>
            <a:ext cx="415137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160">
            <a:solidFill>
              <a:srgbClr val="D4CC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3685032"/>
            <a:ext cx="365760" cy="365760"/>
          </a:xfrm>
          <a:prstGeom prst="ellipse">
            <a:avLst/>
          </a:prstGeom>
          <a:solidFill>
            <a:srgbClr val="EDEA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+ Prepared Statements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95144" y="4187952"/>
            <a:ext cx="256032" cy="256032"/>
          </a:xfrm>
          <a:prstGeom prst="ellipse">
            <a:avLst/>
          </a:prstGeom>
          <a:solidFill>
            <a:srgbClr val="FDF0E8"/>
          </a:solidFill>
          <a:ln w="7620">
            <a:solidFill>
              <a:srgbClr val="D488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95144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425696"/>
            <a:ext cx="4151376" cy="603504"/>
          </a:xfrm>
          <a:prstGeom prst="roundRect">
            <a:avLst>
              <a:gd name="adj" fmla="val 10606"/>
            </a:avLst>
          </a:prstGeom>
          <a:solidFill>
            <a:srgbClr val="FDF0E8"/>
          </a:solidFill>
          <a:ln w="10160">
            <a:solidFill>
              <a:srgbClr val="B562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4544568"/>
            <a:ext cx="365760" cy="365760"/>
          </a:xfrm>
          <a:prstGeom prst="ellipse">
            <a:avLst/>
          </a:prstGeom>
          <a:solidFill>
            <a:srgbClr val="FCDFC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5488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" y="4498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" y="47365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846320" y="969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Modules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1316736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EAF5F5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37760" y="1316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CMS Administration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12864" y="1316736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EAF5F5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04304" y="1316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&amp; RBAC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1792224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EAF0F8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37760" y="1792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Media Management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12864" y="1792224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EAF0F8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04304" y="1792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Multilingual Content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2267712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DF0E8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37760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Historical Timeline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2267712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DF0E8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04304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Maps / GPS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2743200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937760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12864" y="2743200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04304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PWA / Service Worker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46320" y="3218688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37760" y="3218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Optimisation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12864" y="3218688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04304" y="3218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846320" y="45354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"Modular design means better maintainability, security, and easier future onboarding."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Once — Publish Live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administrators can update content anytime, without a developer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969264"/>
            <a:ext cx="2743200" cy="1042416"/>
          </a:xfrm>
          <a:prstGeom prst="roundRect">
            <a:avLst>
              <a:gd name="adj" fmla="val 6140"/>
            </a:avLst>
          </a:prstGeom>
          <a:solidFill>
            <a:srgbClr val="EAF5F5"/>
          </a:solidFill>
          <a:ln w="10160">
            <a:solidFill>
              <a:srgbClr val="1B7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" y="10058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Content Updates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969264"/>
            <a:ext cx="2743200" cy="1042416"/>
          </a:xfrm>
          <a:prstGeom prst="roundRect">
            <a:avLst>
              <a:gd name="adj" fmla="val 6140"/>
            </a:avLst>
          </a:prstGeom>
          <a:solidFill>
            <a:srgbClr val="EAF0F8"/>
          </a:solidFill>
          <a:ln w="1016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0128" y="10058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310128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Sites Supported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9904" y="969264"/>
            <a:ext cx="2743200" cy="1042416"/>
          </a:xfrm>
          <a:prstGeom prst="roundRect">
            <a:avLst>
              <a:gd name="adj" fmla="val 6140"/>
            </a:avLst>
          </a:prstGeom>
          <a:solidFill>
            <a:srgbClr val="FDF0E8"/>
          </a:solidFill>
          <a:ln w="10160">
            <a:solidFill>
              <a:srgbClr val="B56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10058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Trilingual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Sinhala · English · Tamil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" y="21579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450592"/>
            <a:ext cx="17190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" y="2834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10512" y="2468880"/>
            <a:ext cx="219456" cy="219456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810512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075688" y="27249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2450592"/>
            <a:ext cx="17190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94560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267712" y="2834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2468880"/>
            <a:ext cx="219456" cy="219456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0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922776" y="27249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41648" y="2450592"/>
            <a:ext cx="17190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41648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2834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04688" y="2468880"/>
            <a:ext cx="219456" cy="219456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04688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769864" y="27249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88736" y="2450592"/>
            <a:ext cx="17190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88736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961888" y="2834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51776" y="2468880"/>
            <a:ext cx="219456" cy="219456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51776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616952" y="27249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35824" y="2450592"/>
            <a:ext cx="17190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35824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808976" y="2834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See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Live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98864" y="2468880"/>
            <a:ext cx="219456" cy="219456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198864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347472" y="35112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administrators can manage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47472" y="3803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Historical information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273552" y="3803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Images &amp; media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199632" y="3803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Timeline events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47472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Nearby locations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273552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Multilingual descriptions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199632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Heritage site details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3511296"/>
            <a:ext cx="2834640" cy="1389888"/>
          </a:xfrm>
          <a:prstGeom prst="roundRect">
            <a:avLst>
              <a:gd name="adj" fmla="val 4605"/>
            </a:avLst>
          </a:prstGeom>
          <a:solidFill>
            <a:srgbClr val="EAF5F2"/>
          </a:solidFill>
          <a:ln w="10160">
            <a:solidFill>
              <a:srgbClr val="1B7A7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63056" y="35661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CMS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Multiple Sites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6163056" y="422452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heritage sites without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code changes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743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+ Accessibility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development — not added as an afterthought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50976"/>
            <a:ext cx="4224528" cy="3986784"/>
          </a:xfrm>
          <a:prstGeom prst="roundRect">
            <a:avLst>
              <a:gd name="adj" fmla="val 2294"/>
            </a:avLst>
          </a:prstGeom>
          <a:solidFill>
            <a:srgbClr val="F0F6FF"/>
          </a:solidFill>
          <a:ln w="7620">
            <a:solidFill>
              <a:srgbClr val="3D64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42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 Security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1481328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44475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&amp; session management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810512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7393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— bcrypt algorithm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139696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Prepared Statements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468880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43230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2798064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76148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output sanitisation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" y="3127248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09067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 protection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" y="3456432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" y="3456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341985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" y="3785616"/>
            <a:ext cx="182880" cy="182880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" y="3785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74904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with timestamp &amp; user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" y="4151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" y="4370832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2C4A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30352" y="4590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83664" y="4370832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1B7A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938528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938528" y="4590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media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4370832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4A5F7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46704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Arch. Officer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3346704" y="4590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publish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950976"/>
            <a:ext cx="4224528" cy="3986784"/>
          </a:xfrm>
          <a:prstGeom prst="roundRect">
            <a:avLst>
              <a:gd name="adj" fmla="val 2294"/>
            </a:avLst>
          </a:prstGeom>
          <a:solidFill>
            <a:srgbClr val="EAF5F5"/>
          </a:solidFill>
          <a:ln w="7620">
            <a:solidFill>
              <a:srgbClr val="1B7A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82896" y="1042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♿  Accessibility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882896" y="1481328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82896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138928" y="144475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 for all interactive elements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82896" y="1810512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88289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138928" y="177393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Screen-reader-friendly interface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82896" y="2139696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82896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138928" y="21031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structure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82896" y="2468880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82896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138928" y="243230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 support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82896" y="2798064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82896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5138928" y="276148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compatibility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82896" y="3127248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82896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5138928" y="309067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on all devices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882896" y="3456432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882896" y="3456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138928" y="341985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Sinhala · English · Tamil support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882896" y="3785616"/>
            <a:ext cx="182880" cy="182880"/>
          </a:xfrm>
          <a:prstGeom prst="ellipse">
            <a:avLst/>
          </a:prstGeom>
          <a:solidFill>
            <a:srgbClr val="1B7A7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882896" y="3785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5138928" y="374904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accessibility considerations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82896" y="4261104"/>
            <a:ext cx="3840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160">
            <a:solidFill>
              <a:srgbClr val="1B7A7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992624" y="4297680"/>
            <a:ext cx="3621024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"Security protects the information. Accessibility makes it available to more people."</a:t>
            </a:r>
            <a:endParaRPr lang="en-US" sz="105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Development. Long-Term Value.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technical benefits of the proposed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" y="96926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— full plan: approximately 8 weeks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7955280" cy="36576"/>
          </a:xfrm>
          <a:prstGeom prst="rect">
            <a:avLst/>
          </a:prstGeom>
          <a:solidFill>
            <a:srgbClr val="D4CCC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44752"/>
            <a:ext cx="365760" cy="365760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83080" y="14447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83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Backend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08960" y="14447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34840" y="14447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0" y="14447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86600" y="14447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12480" y="1444752"/>
            <a:ext cx="365760" cy="365760"/>
          </a:xfrm>
          <a:prstGeom prst="ellipse">
            <a:avLst/>
          </a:prstGeom>
          <a:solidFill>
            <a:srgbClr val="B5622A"/>
          </a:solidFill>
          <a:ln w="12700">
            <a:solidFill>
              <a:srgbClr val="B562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18836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2523744"/>
            <a:ext cx="8449056" cy="877824"/>
          </a:xfrm>
          <a:prstGeom prst="roundRect">
            <a:avLst>
              <a:gd name="adj" fmla="val 7292"/>
            </a:avLst>
          </a:prstGeom>
          <a:solidFill>
            <a:srgbClr val="FDF0E8"/>
          </a:solidFill>
          <a:ln w="10160">
            <a:solidFill>
              <a:srgbClr val="B562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Accelerated Option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" y="2871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requirements, assets and approvals are provided promptly, development can be targeted for 3–4 weeks.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subject to content readiness, timely feedback and scope stability.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25603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44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3200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— accelerated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47472" y="3511296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benefits of the proposed system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3803904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" y="380390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Launch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87168" y="3803904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78608" y="380390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Earlier Content Management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26864" y="3803904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18304" y="380390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Reduced Developer Dependency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66560" y="3803904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0" y="380390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Centralised Administration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" y="4315968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8912" y="431596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Multi-Site Scalability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87168" y="4315968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578608" y="431596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Better Security Controls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26864" y="4315968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18304" y="431596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Easier Future Maintenance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66560" y="4315968"/>
            <a:ext cx="20208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7620">
            <a:solidFill>
              <a:srgbClr val="D4CCC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0" y="431596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Long-Term Digital Infrastructure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0"/>
            <a:ext cx="2377440" cy="4828032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7472" y="20116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L.S. Computer Technologh?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583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this project is the right investment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69264"/>
            <a:ext cx="2103120" cy="969264"/>
          </a:xfrm>
          <a:prstGeom prst="roundRect">
            <a:avLst>
              <a:gd name="adj" fmla="val 7547"/>
            </a:avLst>
          </a:prstGeom>
          <a:solidFill>
            <a:srgbClr val="1E3A5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1060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06070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System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heritage organisation — not a repurposed generic template.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969264"/>
            <a:ext cx="2103120" cy="969264"/>
          </a:xfrm>
          <a:prstGeom prst="roundRect">
            <a:avLst>
              <a:gd name="adj" fmla="val 7547"/>
            </a:avLst>
          </a:prstGeom>
          <a:solidFill>
            <a:srgbClr val="1E3A5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1060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106070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Developer Access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communication with the lead developer throughout the entire project.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9744" y="969264"/>
            <a:ext cx="2103120" cy="969264"/>
          </a:xfrm>
          <a:prstGeom prst="roundRect">
            <a:avLst>
              <a:gd name="adj" fmla="val 7547"/>
            </a:avLst>
          </a:prstGeom>
          <a:solidFill>
            <a:srgbClr val="1E3A5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01184" y="1060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106070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8.2+, MySQL/MariaDB, MVC-inspired structure, PDO data access.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066544"/>
            <a:ext cx="2103120" cy="969264"/>
          </a:xfrm>
          <a:prstGeom prst="roundRect">
            <a:avLst>
              <a:gd name="adj" fmla="val 7547"/>
            </a:avLst>
          </a:prstGeom>
          <a:solidFill>
            <a:srgbClr val="1E3A5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21579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Scalable Design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manages 20+ heritage locations through a single CMS.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78608" y="2066544"/>
            <a:ext cx="2103120" cy="969264"/>
          </a:xfrm>
          <a:prstGeom prst="roundRect">
            <a:avLst>
              <a:gd name="adj" fmla="val 7547"/>
            </a:avLst>
          </a:prstGeom>
          <a:solidFill>
            <a:srgbClr val="1E3A5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0048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035808" y="21579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Approach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670048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RBAC, CSRF, XSS protection, prepared statements and audit logs.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9744" y="2066544"/>
            <a:ext cx="2103120" cy="969264"/>
          </a:xfrm>
          <a:prstGeom prst="roundRect">
            <a:avLst>
              <a:gd name="adj" fmla="val 7547"/>
            </a:avLst>
          </a:prstGeom>
          <a:solidFill>
            <a:srgbClr val="1E3A5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01184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66944" y="21579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Platform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901184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new content, more sites, extra modules and ongoing care.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" y="4005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D4E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"Not just a website.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i="1" dirty="0">
                <a:solidFill>
                  <a:srgbClr val="D4E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maintainable digital infrastructure for heritage."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7628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5303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L.S. Computer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Technologh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76288" y="11521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Digital Solutions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76288" y="1645920"/>
            <a:ext cx="1828800" cy="18288"/>
          </a:xfrm>
          <a:prstGeom prst="rect">
            <a:avLst/>
          </a:prstGeom>
          <a:solidFill>
            <a:srgbClr val="D4CCC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76288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Lakindu Jayathilaka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76288" y="2468880"/>
            <a:ext cx="1828800" cy="18288"/>
          </a:xfrm>
          <a:prstGeom prst="rect">
            <a:avLst/>
          </a:prstGeom>
          <a:solidFill>
            <a:srgbClr val="D4CCC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76288" y="2560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+94 72 607 6637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876288" y="2834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l.s.computertechnologh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@gmail.com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76288" y="3328416"/>
            <a:ext cx="1828800" cy="18288"/>
          </a:xfrm>
          <a:prstGeom prst="rect">
            <a:avLst/>
          </a:prstGeom>
          <a:solidFill>
            <a:srgbClr val="D4CCC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76288" y="34198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Hosting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876288" y="362102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costs vary by provider, plan &amp; traffic. Separate from development fees.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347472" y="4828032"/>
            <a:ext cx="8449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once.  Manage continuously.  Scale for the future.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On-screen Show (16:9)</PresentationFormat>
  <Paragraphs>230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2026-09-13T15:18:29Z</dcterms:created>
  <dcterms:modified xsi:type="dcterms:W3CDTF">2026-09-13T15:19:55Z</dcterms:modified>
</cp:coreProperties>
</file>